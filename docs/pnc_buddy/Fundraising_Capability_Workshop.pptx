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prompted this and be honest that it started as a P&amp;C piece of work. Set the expectation that the session will surface things we cannot answer yet, and that this is the point rather than a problem. Mention that individual development plans come later and separately, so nobody sits through this wondering if they are being assessed.</a:t>
            </a:r>
          </a:p>
          <a:p/>
          <a:p>
            <a:r>
              <a:t>Keep this slide short.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once, quickly. The one point worth making is that proposal writing is one stage, and most of what decides the outcome happens before it. Do not explain every stage, they will ask about the ones they do not recognise.</a:t>
            </a:r>
          </a:p>
          <a:p/>
          <a:p>
            <a:r>
              <a:t>DISCUSSION: Where do we currently spend most of our time? Which stage do we do least well? Mark both on the slide as they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them cold, one at a time, and let the silences sit. Write down what we cannot answer on a flipchart.</a:t>
            </a:r>
          </a:p>
          <a:p/>
          <a:p>
            <a:r>
              <a:t>Separate two kinds of gap as they come up: things the person does not know, and things the organisation has never written down. The second kind is not their failure and should be recorded as an action for us.</a:t>
            </a:r>
          </a:p>
          <a:p/>
          <a:p>
            <a:r>
              <a:t>The whole slide is the discussion. Allow at least 10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five questions fast, no notes allowed. Then slow down for the one that matters: 60 seconds each on what Taleemabad is, and then separately 60 seconds on why someone should fund us. These come out as the same answer the first time, and separating them is the useful part.</a:t>
            </a:r>
          </a:p>
          <a:p/>
          <a:p>
            <a:r>
              <a:t>Do not put our reach, cost or evidence figures on this slide until they have been confirmed. [To be added/validated with Programmes and Finance.]</a:t>
            </a:r>
          </a:p>
          <a:p/>
          <a:p>
            <a:r>
              <a:t>DISCUSSION: Which of these could you answer confidently in front of a donor tomorrow?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each person one funder from Mulago, Vitol, GiveWell or DIV, and 20 minutes. The question they answer is whether we should pursue, and why.</a:t>
            </a:r>
          </a:p>
          <a:p/>
          <a:p>
            <a:r>
              <a:t>Watch for the Vitol case. Vitol does not take unsolicited applications, they invite organisations through a programme manager. If someone recommends writing a proposal, that is a good moment to draw out the difference between research and qualification.</a:t>
            </a:r>
          </a:p>
          <a:p/>
          <a:p>
            <a:r>
              <a:t>When reviewing, focus on the quality of the recommendation rather than how much was found.</a:t>
            </a:r>
          </a:p>
          <a:p/>
          <a:p>
            <a:r>
              <a:t>DISCUSSION: What would change your mind about this funder?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one real Taleemabad intervention. [To be added/validated with Fundraising and Programmes.]</a:t>
            </a:r>
          </a:p>
          <a:p/>
          <a:p>
            <a:r>
              <a:t>Ask for a one page case covering the six blocks, plus a separate list of what information is missing and who owns getting it. The missing information list is the output worth pressing on. Saying 'Finance needs to confirm this' is the right instinct.</a:t>
            </a:r>
          </a:p>
          <a:p/>
          <a:p>
            <a:r>
              <a:t>DISCUSSION: What is the weakest block for this intervention right 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them calculate cost per child from the real budget, then ask what else they would need in order to calculate cost per outcome. Then the donor questions: why does it cost this much, what would another PKR 10M enable, what happens if we get half, what changes at scale.</a:t>
            </a:r>
          </a:p>
          <a:p/>
          <a:p>
            <a:r>
              <a:t>If the real budget is not cleared in time, cut this section short rather than running it on invented numbers.</a:t>
            </a:r>
          </a:p>
          <a:p/>
          <a:p>
            <a:r>
              <a:t>DISCUSSION: Which numbers would you want Finance to confirm before you sat in front of a donor?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donor. Hold the five minute rule firmly, people will try to pitch. Then move to the harder questions on the slide.</a:t>
            </a:r>
          </a:p>
          <a:p/>
          <a:p>
            <a:r>
              <a:t>Afterwards, ask each person what they would pitch differently based on what they heard, not on what they prepared.</a:t>
            </a:r>
          </a:p>
          <a:p/>
          <a:p>
            <a:r>
              <a:t>DISCUSSION: Which question was hardest, and what would we need in order to answer it properly next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list, not a finalised competency framework, and it is worth saying so. The second line in each box is what we would expect to see in practice, which is the more useful half of the conversation. Work through four or five of them properly rather than all twelve.</a:t>
            </a:r>
          </a:p>
          <a:p/>
          <a:p>
            <a:r>
              <a:t>Do not present any split of responsibilities between the two team members here. That is a conversation for the Senior Manager Fundraising with each of them afterwards, and putting it on a slide would make it look decided.</a:t>
            </a:r>
          </a:p>
          <a:p/>
          <a:p>
            <a:r>
              <a:t>DISCUSSION: Which four or five of these matter most for us over the next six months? Which are we already fine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naming two or three concrete assignments coming out of the session, with owners and dates, so it does not end on an intention. Examples: scoring our current prospects against the qualification dimensions, building a compliance matrix from a live RFP, or agreeing with Finance which cost figures we are allowed to quote.</a:t>
            </a:r>
          </a:p>
          <a:p/>
          <a:p>
            <a:r>
              <a:t>Say plainly that at 30 to 60 days the question will be what someone can now do that they could not before, and what piece of work shows it.</a:t>
            </a:r>
          </a:p>
          <a:p/>
          <a:p>
            <a:r>
              <a:t>DISCUSSION: What is each person taking away as their first assignment?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taleemabad.png"/>
          <p:cNvPicPr>
            <a:picLocks noChangeAspect="1"/>
          </p:cNvPicPr>
          <p:nvPr/>
        </p:nvPicPr>
        <p:blipFill>
          <a:blip r:embed="rId2"/>
          <a:stretch>
            <a:fillRect/>
          </a:stretch>
        </p:blipFill>
        <p:spPr>
          <a:xfrm>
            <a:off x="658368" y="548640"/>
            <a:ext cx="256713" cy="457200"/>
          </a:xfrm>
          <a:prstGeom prst="rect">
            <a:avLst/>
          </a:prstGeom>
        </p:spPr>
      </p:pic>
      <p:sp>
        <p:nvSpPr>
          <p:cNvPr id="4" name="TextBox 3"/>
          <p:cNvSpPr txBox="1"/>
          <p:nvPr/>
        </p:nvSpPr>
        <p:spPr>
          <a:xfrm>
            <a:off x="658368" y="2148840"/>
            <a:ext cx="9601200" cy="1097280"/>
          </a:xfrm>
          <a:prstGeom prst="rect">
            <a:avLst/>
          </a:prstGeom>
          <a:noFill/>
        </p:spPr>
        <p:txBody>
          <a:bodyPr wrap="square" anchor="t">
            <a:spAutoFit/>
          </a:bodyPr>
          <a:lstStyle/>
          <a:p>
            <a:pPr algn="l">
              <a:lnSpc>
                <a:spcPct val="115000"/>
              </a:lnSpc>
              <a:spcAft>
                <a:spcPts val="0"/>
              </a:spcAft>
            </a:pPr>
            <a:r>
              <a:rPr sz="4400" b="1" i="0">
                <a:solidFill>
                  <a:srgbClr val="FFFFFF"/>
                </a:solidFill>
                <a:latin typeface="Calibri"/>
              </a:rPr>
              <a:t>Fundraising Capability Workshop</a:t>
            </a:r>
          </a:p>
        </p:txBody>
      </p:sp>
      <p:sp>
        <p:nvSpPr>
          <p:cNvPr id="5" name="Rectangle 4"/>
          <p:cNvSpPr/>
          <p:nvPr/>
        </p:nvSpPr>
        <p:spPr>
          <a:xfrm>
            <a:off x="685800" y="3200400"/>
            <a:ext cx="128016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20440"/>
            <a:ext cx="8686800" cy="1280160"/>
          </a:xfrm>
          <a:prstGeom prst="rect">
            <a:avLst/>
          </a:prstGeom>
          <a:noFill/>
        </p:spPr>
        <p:txBody>
          <a:bodyPr wrap="square" anchor="t">
            <a:spAutoFit/>
          </a:bodyPr>
          <a:lstStyle/>
          <a:p>
            <a:pPr algn="l">
              <a:lnSpc>
                <a:spcPct val="115000"/>
              </a:lnSpc>
              <a:spcAft>
                <a:spcPts val="600"/>
              </a:spcAft>
            </a:pPr>
            <a:r>
              <a:rPr sz="1700" b="0" i="0">
                <a:solidFill>
                  <a:srgbClr val="C7D5F0"/>
                </a:solidFill>
                <a:latin typeface="Calibri"/>
              </a:rPr>
              <a:t>A working session on how fundraising moves, and where our work sits in it</a:t>
            </a:r>
          </a:p>
          <a:p>
            <a:pPr algn="l">
              <a:lnSpc>
                <a:spcPct val="115000"/>
              </a:lnSpc>
              <a:spcAft>
                <a:spcPts val="600"/>
              </a:spcAft>
            </a:pPr>
            <a:r>
              <a:rPr sz="1700" b="0" i="0">
                <a:solidFill>
                  <a:srgbClr val="C7D5F0"/>
                </a:solidFill>
                <a:latin typeface="Calibri"/>
              </a:rPr>
              <a:t>People and Culture, with the Fundraising team</a:t>
            </a:r>
          </a:p>
        </p:txBody>
      </p:sp>
      <p:sp>
        <p:nvSpPr>
          <p:cNvPr id="7" name="TextBox 6"/>
          <p:cNvSpPr txBox="1"/>
          <p:nvPr/>
        </p:nvSpPr>
        <p:spPr>
          <a:xfrm>
            <a:off x="658368" y="6035040"/>
            <a:ext cx="5486400" cy="365760"/>
          </a:xfrm>
          <a:prstGeom prst="rect">
            <a:avLst/>
          </a:prstGeom>
          <a:noFill/>
        </p:spPr>
        <p:txBody>
          <a:bodyPr wrap="square" anchor="t">
            <a:spAutoFit/>
          </a:bodyPr>
          <a:lstStyle/>
          <a:p>
            <a:pPr algn="l">
              <a:lnSpc>
                <a:spcPct val="115000"/>
              </a:lnSpc>
              <a:spcAft>
                <a:spcPts val="1000"/>
              </a:spcAft>
            </a:pPr>
            <a:r>
              <a:rPr sz="1200" b="0" i="0">
                <a:solidFill>
                  <a:srgbClr val="9EB8E8"/>
                </a:solidFill>
                <a:latin typeface="Calibri"/>
              </a:rPr>
              <a:t>Roughly 2.5 hours   |   Mostly exercises, using our own material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3C78D8"/>
                </a:solidFill>
                <a:latin typeface="Calibri"/>
              </a:rPr>
              <a:t>THE SEQUENCE</a:t>
            </a:r>
          </a:p>
        </p:txBody>
      </p:sp>
      <p:sp>
        <p:nvSpPr>
          <p:cNvPr id="3" name="TextBox 2"/>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2F4FA2"/>
                </a:solidFill>
                <a:latin typeface="Calibri"/>
              </a:rPr>
              <a:t>How fundraising moves</a:t>
            </a:r>
          </a:p>
        </p:txBody>
      </p:sp>
      <p:sp>
        <p:nvSpPr>
          <p:cNvPr id="4" name="Rectangle 3"/>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2331720"/>
            <a:ext cx="939338" cy="105156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Research</a:t>
            </a:r>
          </a:p>
        </p:txBody>
      </p:sp>
      <p:sp>
        <p:nvSpPr>
          <p:cNvPr id="6" name="Right Arrow 5"/>
          <p:cNvSpPr/>
          <p:nvPr/>
        </p:nvSpPr>
        <p:spPr>
          <a:xfrm>
            <a:off x="1579418"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652570" y="2331720"/>
            <a:ext cx="939338" cy="1051560"/>
          </a:xfrm>
          <a:prstGeom prst="roundRect">
            <a:avLst/>
          </a:prstGeom>
          <a:solidFill>
            <a:srgbClr val="E3EAF7"/>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Qualify</a:t>
            </a:r>
          </a:p>
        </p:txBody>
      </p:sp>
      <p:sp>
        <p:nvSpPr>
          <p:cNvPr id="8" name="Right Arrow 7"/>
          <p:cNvSpPr/>
          <p:nvPr/>
        </p:nvSpPr>
        <p:spPr>
          <a:xfrm>
            <a:off x="2573620"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46772" y="2331720"/>
            <a:ext cx="939338" cy="105156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Cultivate</a:t>
            </a:r>
          </a:p>
        </p:txBody>
      </p:sp>
      <p:sp>
        <p:nvSpPr>
          <p:cNvPr id="10" name="Right Arrow 9"/>
          <p:cNvSpPr/>
          <p:nvPr/>
        </p:nvSpPr>
        <p:spPr>
          <a:xfrm>
            <a:off x="3567822"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40974" y="2331720"/>
            <a:ext cx="939338" cy="1051560"/>
          </a:xfrm>
          <a:prstGeom prst="roundRect">
            <a:avLst/>
          </a:prstGeom>
          <a:solidFill>
            <a:srgbClr val="E3EAF7"/>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Design
the Ask</a:t>
            </a:r>
          </a:p>
        </p:txBody>
      </p:sp>
      <p:sp>
        <p:nvSpPr>
          <p:cNvPr id="12" name="Right Arrow 11"/>
          <p:cNvSpPr/>
          <p:nvPr/>
        </p:nvSpPr>
        <p:spPr>
          <a:xfrm>
            <a:off x="4562024"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35176" y="2331720"/>
            <a:ext cx="939338" cy="105156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Proposal</a:t>
            </a:r>
          </a:p>
        </p:txBody>
      </p:sp>
      <p:sp>
        <p:nvSpPr>
          <p:cNvPr id="14" name="Right Arrow 13"/>
          <p:cNvSpPr/>
          <p:nvPr/>
        </p:nvSpPr>
        <p:spPr>
          <a:xfrm>
            <a:off x="5556226"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29378" y="2331720"/>
            <a:ext cx="939338" cy="1051560"/>
          </a:xfrm>
          <a:prstGeom prst="roundRect">
            <a:avLst/>
          </a:prstGeom>
          <a:solidFill>
            <a:srgbClr val="E3EAF7"/>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Budget</a:t>
            </a:r>
          </a:p>
        </p:txBody>
      </p:sp>
      <p:sp>
        <p:nvSpPr>
          <p:cNvPr id="16" name="Right Arrow 15"/>
          <p:cNvSpPr/>
          <p:nvPr/>
        </p:nvSpPr>
        <p:spPr>
          <a:xfrm>
            <a:off x="6550428"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23580" y="2331720"/>
            <a:ext cx="939338" cy="105156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Due
Diligence</a:t>
            </a:r>
          </a:p>
        </p:txBody>
      </p:sp>
      <p:sp>
        <p:nvSpPr>
          <p:cNvPr id="18" name="Right Arrow 17"/>
          <p:cNvSpPr/>
          <p:nvPr/>
        </p:nvSpPr>
        <p:spPr>
          <a:xfrm>
            <a:off x="7544630"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17782" y="2331720"/>
            <a:ext cx="939338" cy="1051560"/>
          </a:xfrm>
          <a:prstGeom prst="roundRect">
            <a:avLst/>
          </a:prstGeom>
          <a:solidFill>
            <a:srgbClr val="E3EAF7"/>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Close</a:t>
            </a:r>
          </a:p>
        </p:txBody>
      </p:sp>
      <p:sp>
        <p:nvSpPr>
          <p:cNvPr id="20" name="Right Arrow 19"/>
          <p:cNvSpPr/>
          <p:nvPr/>
        </p:nvSpPr>
        <p:spPr>
          <a:xfrm>
            <a:off x="8538832"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11984" y="2331720"/>
            <a:ext cx="939338" cy="105156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Deliver
and Report</a:t>
            </a:r>
          </a:p>
        </p:txBody>
      </p:sp>
      <p:sp>
        <p:nvSpPr>
          <p:cNvPr id="22" name="Right Arrow 21"/>
          <p:cNvSpPr/>
          <p:nvPr/>
        </p:nvSpPr>
        <p:spPr>
          <a:xfrm>
            <a:off x="9533034"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06186" y="2331720"/>
            <a:ext cx="939338" cy="1051560"/>
          </a:xfrm>
          <a:prstGeom prst="roundRect">
            <a:avLst/>
          </a:prstGeom>
          <a:solidFill>
            <a:srgbClr val="E3EAF7"/>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Steward</a:t>
            </a:r>
          </a:p>
        </p:txBody>
      </p:sp>
      <p:sp>
        <p:nvSpPr>
          <p:cNvPr id="24" name="Right Arrow 23"/>
          <p:cNvSpPr/>
          <p:nvPr/>
        </p:nvSpPr>
        <p:spPr>
          <a:xfrm>
            <a:off x="10527236" y="2761488"/>
            <a:ext cx="91440" cy="182880"/>
          </a:xfrm>
          <a:prstGeom prst="rightArrow">
            <a:avLst/>
          </a:prstGeom>
          <a:solidFill>
            <a:srgbClr val="D5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600388" y="2331720"/>
            <a:ext cx="939338" cy="105156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2F4FA2"/>
                </a:solidFill>
                <a:latin typeface="Calibri"/>
              </a:rPr>
              <a:t>Renew</a:t>
            </a:r>
          </a:p>
        </p:txBody>
      </p:sp>
      <p:sp>
        <p:nvSpPr>
          <p:cNvPr id="26" name="TextBox 25"/>
          <p:cNvSpPr txBox="1"/>
          <p:nvPr/>
        </p:nvSpPr>
        <p:spPr>
          <a:xfrm>
            <a:off x="658368" y="3977639"/>
            <a:ext cx="10881360" cy="1463040"/>
          </a:xfrm>
          <a:prstGeom prst="rect">
            <a:avLst/>
          </a:prstGeom>
          <a:noFill/>
        </p:spPr>
        <p:txBody>
          <a:bodyPr wrap="square">
            <a:spAutoFit/>
          </a:bodyPr>
          <a:lstStyle/>
          <a:p>
            <a:pPr>
              <a:lnSpc>
                <a:spcPct val="120000"/>
              </a:lnSpc>
              <a:spcAft>
                <a:spcPts val="1400"/>
              </a:spcAft>
            </a:pPr>
            <a:r>
              <a:rPr sz="1700">
                <a:solidFill>
                  <a:srgbClr val="3C78D8"/>
                </a:solidFill>
                <a:latin typeface="Calibri"/>
              </a:rPr>
              <a:t>•   </a:t>
            </a:r>
            <a:r>
              <a:rPr sz="1700">
                <a:solidFill>
                  <a:srgbClr val="1F242E"/>
                </a:solidFill>
                <a:latin typeface="Calibri"/>
              </a:rPr>
              <a:t>Proposal writing is one stage. Most of what decides the outcome happens before it.</a:t>
            </a:r>
          </a:p>
          <a:p>
            <a:pPr>
              <a:lnSpc>
                <a:spcPct val="120000"/>
              </a:lnSpc>
              <a:spcAft>
                <a:spcPts val="1400"/>
              </a:spcAft>
            </a:pPr>
            <a:r>
              <a:rPr sz="1700">
                <a:solidFill>
                  <a:srgbClr val="3C78D8"/>
                </a:solidFill>
                <a:latin typeface="Calibri"/>
              </a:rPr>
              <a:t>•   </a:t>
            </a:r>
            <a:r>
              <a:rPr sz="1700">
                <a:solidFill>
                  <a:srgbClr val="1F242E"/>
                </a:solidFill>
                <a:latin typeface="Calibri"/>
              </a:rPr>
              <a:t>This is a shared vocabulary, not a process to comply with.</a:t>
            </a:r>
          </a:p>
        </p:txBody>
      </p:sp>
      <p:sp>
        <p:nvSpPr>
          <p:cNvPr id="27" name="TextBox 26"/>
          <p:cNvSpPr txBox="1"/>
          <p:nvPr/>
        </p:nvSpPr>
        <p:spPr>
          <a:xfrm>
            <a:off x="658368" y="5074920"/>
            <a:ext cx="10881360" cy="365760"/>
          </a:xfrm>
          <a:prstGeom prst="rect">
            <a:avLst/>
          </a:prstGeom>
          <a:noFill/>
        </p:spPr>
        <p:txBody>
          <a:bodyPr wrap="square" anchor="t">
            <a:spAutoFit/>
          </a:bodyPr>
          <a:lstStyle/>
          <a:p>
            <a:pPr algn="l">
              <a:lnSpc>
                <a:spcPct val="115000"/>
              </a:lnSpc>
              <a:spcAft>
                <a:spcPts val="1000"/>
              </a:spcAft>
            </a:pPr>
            <a:r>
              <a:rPr sz="1200" b="0" i="1">
                <a:solidFill>
                  <a:srgbClr val="5A616E"/>
                </a:solidFill>
                <a:latin typeface="Calibri"/>
              </a:rPr>
              <a:t>Stage by stage detail is in the facilitator guide.</a:t>
            </a:r>
          </a:p>
        </p:txBody>
      </p:sp>
      <p:pic>
        <p:nvPicPr>
          <p:cNvPr id="28" name="Picture 27"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29" name="TextBox 28"/>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5A61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3C78D8"/>
                </a:solidFill>
                <a:latin typeface="Calibri"/>
              </a:rPr>
              <a:t>ELEVEN QUESTIONS</a:t>
            </a:r>
          </a:p>
        </p:txBody>
      </p:sp>
      <p:sp>
        <p:nvSpPr>
          <p:cNvPr id="3" name="TextBox 2"/>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2F4FA2"/>
                </a:solidFill>
                <a:latin typeface="Calibri"/>
              </a:rPr>
              <a:t>Can we answer these?</a:t>
            </a:r>
          </a:p>
        </p:txBody>
      </p:sp>
      <p:sp>
        <p:nvSpPr>
          <p:cNvPr id="4" name="Rectangle 3"/>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194560"/>
            <a:ext cx="5212080" cy="3291840"/>
          </a:xfrm>
          <a:prstGeom prst="rect">
            <a:avLst/>
          </a:prstGeom>
          <a:noFill/>
        </p:spPr>
        <p:txBody>
          <a:bodyPr wrap="square">
            <a:spAutoFit/>
          </a:bodyPr>
          <a:lstStyle/>
          <a:p>
            <a:pPr>
              <a:lnSpc>
                <a:spcPct val="120000"/>
              </a:lnSpc>
              <a:spcAft>
                <a:spcPts val="1800"/>
              </a:spcAft>
            </a:pPr>
            <a:r>
              <a:rPr sz="1900">
                <a:solidFill>
                  <a:srgbClr val="3C78D8"/>
                </a:solidFill>
                <a:latin typeface="Calibri"/>
              </a:rPr>
              <a:t>•   </a:t>
            </a:r>
            <a:r>
              <a:rPr sz="1900">
                <a:solidFill>
                  <a:srgbClr val="1F242E"/>
                </a:solidFill>
                <a:latin typeface="Calibri"/>
              </a:rPr>
              <a:t>Who should fund us?</a:t>
            </a:r>
          </a:p>
          <a:p>
            <a:pPr>
              <a:lnSpc>
                <a:spcPct val="120000"/>
              </a:lnSpc>
              <a:spcAft>
                <a:spcPts val="1800"/>
              </a:spcAft>
            </a:pPr>
            <a:r>
              <a:rPr sz="1900">
                <a:solidFill>
                  <a:srgbClr val="3C78D8"/>
                </a:solidFill>
                <a:latin typeface="Calibri"/>
              </a:rPr>
              <a:t>•   </a:t>
            </a:r>
            <a:r>
              <a:rPr sz="1900">
                <a:solidFill>
                  <a:srgbClr val="1F242E"/>
                </a:solidFill>
                <a:latin typeface="Calibri"/>
              </a:rPr>
              <a:t>Why are we a fit?</a:t>
            </a:r>
          </a:p>
          <a:p>
            <a:pPr>
              <a:lnSpc>
                <a:spcPct val="120000"/>
              </a:lnSpc>
              <a:spcAft>
                <a:spcPts val="1800"/>
              </a:spcAft>
            </a:pPr>
            <a:r>
              <a:rPr sz="1900">
                <a:solidFill>
                  <a:srgbClr val="3C78D8"/>
                </a:solidFill>
                <a:latin typeface="Calibri"/>
              </a:rPr>
              <a:t>•   </a:t>
            </a:r>
            <a:r>
              <a:rPr sz="1900">
                <a:solidFill>
                  <a:srgbClr val="1F242E"/>
                </a:solidFill>
                <a:latin typeface="Calibri"/>
              </a:rPr>
              <a:t>What exactly are we asking them to fund?</a:t>
            </a:r>
          </a:p>
          <a:p>
            <a:pPr>
              <a:lnSpc>
                <a:spcPct val="120000"/>
              </a:lnSpc>
              <a:spcAft>
                <a:spcPts val="1800"/>
              </a:spcAft>
            </a:pPr>
            <a:r>
              <a:rPr sz="1900">
                <a:solidFill>
                  <a:srgbClr val="3C78D8"/>
                </a:solidFill>
                <a:latin typeface="Calibri"/>
              </a:rPr>
              <a:t>•   </a:t>
            </a:r>
            <a:r>
              <a:rPr sz="1900">
                <a:solidFill>
                  <a:srgbClr val="1F242E"/>
                </a:solidFill>
                <a:latin typeface="Calibri"/>
              </a:rPr>
              <a:t>What problem are we solving?</a:t>
            </a:r>
          </a:p>
          <a:p>
            <a:pPr>
              <a:lnSpc>
                <a:spcPct val="120000"/>
              </a:lnSpc>
              <a:spcAft>
                <a:spcPts val="1800"/>
              </a:spcAft>
            </a:pPr>
            <a:r>
              <a:rPr sz="1900">
                <a:solidFill>
                  <a:srgbClr val="3C78D8"/>
                </a:solidFill>
                <a:latin typeface="Calibri"/>
              </a:rPr>
              <a:t>•   </a:t>
            </a:r>
            <a:r>
              <a:rPr sz="1900">
                <a:solidFill>
                  <a:srgbClr val="1F242E"/>
                </a:solidFill>
                <a:latin typeface="Calibri"/>
              </a:rPr>
              <a:t>Does our solution work?</a:t>
            </a:r>
          </a:p>
          <a:p>
            <a:pPr>
              <a:lnSpc>
                <a:spcPct val="120000"/>
              </a:lnSpc>
              <a:spcAft>
                <a:spcPts val="1800"/>
              </a:spcAft>
            </a:pPr>
            <a:r>
              <a:rPr sz="1900">
                <a:solidFill>
                  <a:srgbClr val="3C78D8"/>
                </a:solidFill>
                <a:latin typeface="Calibri"/>
              </a:rPr>
              <a:t>•   </a:t>
            </a:r>
            <a:r>
              <a:rPr sz="1900">
                <a:solidFill>
                  <a:srgbClr val="1F242E"/>
                </a:solidFill>
                <a:latin typeface="Calibri"/>
              </a:rPr>
              <a:t>How do we know?</a:t>
            </a:r>
          </a:p>
        </p:txBody>
      </p:sp>
      <p:sp>
        <p:nvSpPr>
          <p:cNvPr id="6" name="TextBox 5"/>
          <p:cNvSpPr txBox="1"/>
          <p:nvPr/>
        </p:nvSpPr>
        <p:spPr>
          <a:xfrm>
            <a:off x="6309360" y="2194560"/>
            <a:ext cx="5212080" cy="3291840"/>
          </a:xfrm>
          <a:prstGeom prst="rect">
            <a:avLst/>
          </a:prstGeom>
          <a:noFill/>
        </p:spPr>
        <p:txBody>
          <a:bodyPr wrap="square">
            <a:spAutoFit/>
          </a:bodyPr>
          <a:lstStyle/>
          <a:p>
            <a:pPr>
              <a:lnSpc>
                <a:spcPct val="120000"/>
              </a:lnSpc>
              <a:spcAft>
                <a:spcPts val="1800"/>
              </a:spcAft>
            </a:pPr>
            <a:r>
              <a:rPr sz="1900">
                <a:solidFill>
                  <a:srgbClr val="3C78D8"/>
                </a:solidFill>
                <a:latin typeface="Calibri"/>
              </a:rPr>
              <a:t>•   </a:t>
            </a:r>
            <a:r>
              <a:rPr sz="1900">
                <a:solidFill>
                  <a:srgbClr val="1F242E"/>
                </a:solidFill>
                <a:latin typeface="Calibri"/>
              </a:rPr>
              <a:t>What does it cost?</a:t>
            </a:r>
          </a:p>
          <a:p>
            <a:pPr>
              <a:lnSpc>
                <a:spcPct val="120000"/>
              </a:lnSpc>
              <a:spcAft>
                <a:spcPts val="1800"/>
              </a:spcAft>
            </a:pPr>
            <a:r>
              <a:rPr sz="1900">
                <a:solidFill>
                  <a:srgbClr val="3C78D8"/>
                </a:solidFill>
                <a:latin typeface="Calibri"/>
              </a:rPr>
              <a:t>•   </a:t>
            </a:r>
            <a:r>
              <a:rPr sz="1900">
                <a:solidFill>
                  <a:srgbClr val="1F242E"/>
                </a:solidFill>
                <a:latin typeface="Calibri"/>
              </a:rPr>
              <a:t>Can it scale?</a:t>
            </a:r>
          </a:p>
          <a:p>
            <a:pPr>
              <a:lnSpc>
                <a:spcPct val="120000"/>
              </a:lnSpc>
              <a:spcAft>
                <a:spcPts val="1800"/>
              </a:spcAft>
            </a:pPr>
            <a:r>
              <a:rPr sz="1900">
                <a:solidFill>
                  <a:srgbClr val="3C78D8"/>
                </a:solidFill>
                <a:latin typeface="Calibri"/>
              </a:rPr>
              <a:t>•   </a:t>
            </a:r>
            <a:r>
              <a:rPr sz="1900">
                <a:solidFill>
                  <a:srgbClr val="1F242E"/>
                </a:solidFill>
                <a:latin typeface="Calibri"/>
              </a:rPr>
              <a:t>What would additional funding enable?</a:t>
            </a:r>
          </a:p>
          <a:p>
            <a:pPr>
              <a:lnSpc>
                <a:spcPct val="120000"/>
              </a:lnSpc>
              <a:spcAft>
                <a:spcPts val="1800"/>
              </a:spcAft>
            </a:pPr>
            <a:r>
              <a:rPr sz="1900">
                <a:solidFill>
                  <a:srgbClr val="3C78D8"/>
                </a:solidFill>
                <a:latin typeface="Calibri"/>
              </a:rPr>
              <a:t>•   </a:t>
            </a:r>
            <a:r>
              <a:rPr sz="1900">
                <a:solidFill>
                  <a:srgbClr val="1F242E"/>
                </a:solidFill>
                <a:latin typeface="Calibri"/>
              </a:rPr>
              <a:t>Why Taleemabad?</a:t>
            </a:r>
          </a:p>
          <a:p>
            <a:pPr>
              <a:lnSpc>
                <a:spcPct val="120000"/>
              </a:lnSpc>
              <a:spcAft>
                <a:spcPts val="1800"/>
              </a:spcAft>
            </a:pPr>
            <a:r>
              <a:rPr sz="1900">
                <a:solidFill>
                  <a:srgbClr val="3C78D8"/>
                </a:solidFill>
                <a:latin typeface="Calibri"/>
              </a:rPr>
              <a:t>•   </a:t>
            </a:r>
            <a:r>
              <a:rPr sz="1900">
                <a:solidFill>
                  <a:srgbClr val="1F242E"/>
                </a:solidFill>
                <a:latin typeface="Calibri"/>
              </a:rPr>
              <a:t>How do we build and maintain that relationship?</a:t>
            </a:r>
          </a:p>
        </p:txBody>
      </p:sp>
      <p:pic>
        <p:nvPicPr>
          <p:cNvPr id="7" name="Picture 6"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8" name="TextBox 7"/>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5A61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3C78D8"/>
                </a:solidFill>
                <a:latin typeface="Calibri"/>
              </a:rPr>
              <a:t>RAPID FIRE, NO NOTES</a:t>
            </a:r>
          </a:p>
        </p:txBody>
      </p:sp>
      <p:sp>
        <p:nvSpPr>
          <p:cNvPr id="3" name="TextBox 2"/>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2F4FA2"/>
                </a:solidFill>
                <a:latin typeface="Calibri"/>
              </a:rPr>
              <a:t>How well do we know Taleemabad?</a:t>
            </a:r>
          </a:p>
        </p:txBody>
      </p:sp>
      <p:sp>
        <p:nvSpPr>
          <p:cNvPr id="4" name="Rectangle 3"/>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240280"/>
            <a:ext cx="10881360" cy="2926080"/>
          </a:xfrm>
          <a:prstGeom prst="rect">
            <a:avLst/>
          </a:prstGeom>
          <a:noFill/>
        </p:spPr>
        <p:txBody>
          <a:bodyPr wrap="square">
            <a:spAutoFit/>
          </a:bodyPr>
          <a:lstStyle/>
          <a:p>
            <a:pPr>
              <a:lnSpc>
                <a:spcPct val="120000"/>
              </a:lnSpc>
              <a:spcAft>
                <a:spcPts val="2000"/>
              </a:spcAft>
            </a:pPr>
            <a:r>
              <a:rPr sz="2000">
                <a:solidFill>
                  <a:srgbClr val="3C78D8"/>
                </a:solidFill>
                <a:latin typeface="Calibri"/>
              </a:rPr>
              <a:t>•   </a:t>
            </a:r>
            <a:r>
              <a:rPr sz="2000">
                <a:solidFill>
                  <a:srgbClr val="1F242E"/>
                </a:solidFill>
                <a:latin typeface="Calibri"/>
              </a:rPr>
              <a:t>What problem do we solve, and for whom?</a:t>
            </a:r>
          </a:p>
          <a:p>
            <a:pPr>
              <a:lnSpc>
                <a:spcPct val="120000"/>
              </a:lnSpc>
              <a:spcAft>
                <a:spcPts val="2000"/>
              </a:spcAft>
            </a:pPr>
            <a:r>
              <a:rPr sz="2000">
                <a:solidFill>
                  <a:srgbClr val="3C78D8"/>
                </a:solidFill>
                <a:latin typeface="Calibri"/>
              </a:rPr>
              <a:t>•   </a:t>
            </a:r>
            <a:r>
              <a:rPr sz="2000">
                <a:solidFill>
                  <a:srgbClr val="1F242E"/>
                </a:solidFill>
                <a:latin typeface="Calibri"/>
              </a:rPr>
              <a:t>Where do we work, and how many people do we reach?</a:t>
            </a:r>
          </a:p>
          <a:p>
            <a:pPr>
              <a:lnSpc>
                <a:spcPct val="120000"/>
              </a:lnSpc>
              <a:spcAft>
                <a:spcPts val="2000"/>
              </a:spcAft>
            </a:pPr>
            <a:r>
              <a:rPr sz="2000">
                <a:solidFill>
                  <a:srgbClr val="3C78D8"/>
                </a:solidFill>
                <a:latin typeface="Calibri"/>
              </a:rPr>
              <a:t>•   </a:t>
            </a:r>
            <a:r>
              <a:rPr sz="2000">
                <a:solidFill>
                  <a:srgbClr val="1F242E"/>
                </a:solidFill>
                <a:latin typeface="Calibri"/>
              </a:rPr>
              <a:t>What is our evidence, and how strong is it?</a:t>
            </a:r>
          </a:p>
          <a:p>
            <a:pPr>
              <a:lnSpc>
                <a:spcPct val="120000"/>
              </a:lnSpc>
              <a:spcAft>
                <a:spcPts val="2000"/>
              </a:spcAft>
            </a:pPr>
            <a:r>
              <a:rPr sz="2000">
                <a:solidFill>
                  <a:srgbClr val="3C78D8"/>
                </a:solidFill>
                <a:latin typeface="Calibri"/>
              </a:rPr>
              <a:t>•   </a:t>
            </a:r>
            <a:r>
              <a:rPr sz="2000">
                <a:solidFill>
                  <a:srgbClr val="1F242E"/>
                </a:solidFill>
                <a:latin typeface="Calibri"/>
              </a:rPr>
              <a:t>What does it cost, and who funds us today?</a:t>
            </a:r>
          </a:p>
          <a:p>
            <a:pPr>
              <a:lnSpc>
                <a:spcPct val="120000"/>
              </a:lnSpc>
              <a:spcAft>
                <a:spcPts val="2000"/>
              </a:spcAft>
            </a:pPr>
            <a:r>
              <a:rPr sz="2000">
                <a:solidFill>
                  <a:srgbClr val="3C78D8"/>
                </a:solidFill>
                <a:latin typeface="Calibri"/>
              </a:rPr>
              <a:t>•   </a:t>
            </a:r>
            <a:r>
              <a:rPr sz="2000">
                <a:solidFill>
                  <a:srgbClr val="1F242E"/>
                </a:solidFill>
                <a:latin typeface="Calibri"/>
              </a:rPr>
              <a:t>What is different about us, and what are we scaling?</a:t>
            </a:r>
          </a:p>
        </p:txBody>
      </p:sp>
      <p:sp>
        <p:nvSpPr>
          <p:cNvPr id="6" name="Rounded Rectangle 5"/>
          <p:cNvSpPr/>
          <p:nvPr/>
        </p:nvSpPr>
        <p:spPr>
          <a:xfrm>
            <a:off x="658368" y="5074920"/>
            <a:ext cx="10881360" cy="77724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30368"/>
            <a:ext cx="10424160" cy="548640"/>
          </a:xfrm>
          <a:prstGeom prst="rect">
            <a:avLst/>
          </a:prstGeom>
          <a:noFill/>
        </p:spPr>
        <p:txBody>
          <a:bodyPr wrap="square" anchor="t">
            <a:spAutoFit/>
          </a:bodyPr>
          <a:lstStyle/>
          <a:p>
            <a:pPr algn="l">
              <a:lnSpc>
                <a:spcPct val="115000"/>
              </a:lnSpc>
              <a:spcAft>
                <a:spcPts val="1000"/>
              </a:spcAft>
            </a:pPr>
            <a:r>
              <a:rPr sz="1600" b="1" i="0">
                <a:solidFill>
                  <a:srgbClr val="2F4FA2"/>
                </a:solidFill>
                <a:latin typeface="Calibri"/>
              </a:rPr>
              <a:t>Then, separately: 60 seconds on what Taleemabad is. 60 seconds on why someone should fund us.</a:t>
            </a:r>
          </a:p>
        </p:txBody>
      </p:sp>
      <p:pic>
        <p:nvPicPr>
          <p:cNvPr id="8" name="Picture 7"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9" name="TextBox 8"/>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5A61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3C78D8"/>
                </a:solidFill>
                <a:latin typeface="Calibri"/>
              </a:rPr>
              <a:t>RESEARCH, THEN QUALIFICATION</a:t>
            </a:r>
          </a:p>
        </p:txBody>
      </p:sp>
      <p:sp>
        <p:nvSpPr>
          <p:cNvPr id="3" name="TextBox 2"/>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2F4FA2"/>
                </a:solidFill>
                <a:latin typeface="Calibri"/>
              </a:rPr>
              <a:t>Finding a donor is not the same as having an opportunity</a:t>
            </a:r>
          </a:p>
        </p:txBody>
      </p:sp>
      <p:sp>
        <p:nvSpPr>
          <p:cNvPr id="4" name="Rectangle 3"/>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2286000"/>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Mission fit</a:t>
            </a:r>
          </a:p>
        </p:txBody>
      </p:sp>
      <p:sp>
        <p:nvSpPr>
          <p:cNvPr id="6" name="Rounded Rectangle 5"/>
          <p:cNvSpPr/>
          <p:nvPr/>
        </p:nvSpPr>
        <p:spPr>
          <a:xfrm>
            <a:off x="4288536" y="2286000"/>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Geography fit</a:t>
            </a:r>
          </a:p>
        </p:txBody>
      </p:sp>
      <p:sp>
        <p:nvSpPr>
          <p:cNvPr id="7" name="Rounded Rectangle 6"/>
          <p:cNvSpPr/>
          <p:nvPr/>
        </p:nvSpPr>
        <p:spPr>
          <a:xfrm>
            <a:off x="7918704" y="2286000"/>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Programme fit</a:t>
            </a:r>
          </a:p>
        </p:txBody>
      </p:sp>
      <p:sp>
        <p:nvSpPr>
          <p:cNvPr id="8" name="Rounded Rectangle 7"/>
          <p:cNvSpPr/>
          <p:nvPr/>
        </p:nvSpPr>
        <p:spPr>
          <a:xfrm>
            <a:off x="658368" y="3035808"/>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Evidence fit</a:t>
            </a:r>
          </a:p>
        </p:txBody>
      </p:sp>
      <p:sp>
        <p:nvSpPr>
          <p:cNvPr id="9" name="Rounded Rectangle 8"/>
          <p:cNvSpPr/>
          <p:nvPr/>
        </p:nvSpPr>
        <p:spPr>
          <a:xfrm>
            <a:off x="4288536" y="3035808"/>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Scale fit</a:t>
            </a:r>
          </a:p>
        </p:txBody>
      </p:sp>
      <p:sp>
        <p:nvSpPr>
          <p:cNvPr id="10" name="Rounded Rectangle 9"/>
          <p:cNvSpPr/>
          <p:nvPr/>
        </p:nvSpPr>
        <p:spPr>
          <a:xfrm>
            <a:off x="7918704" y="3035808"/>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Ticket size</a:t>
            </a:r>
          </a:p>
        </p:txBody>
      </p:sp>
      <p:sp>
        <p:nvSpPr>
          <p:cNvPr id="11" name="Rounded Rectangle 10"/>
          <p:cNvSpPr/>
          <p:nvPr/>
        </p:nvSpPr>
        <p:spPr>
          <a:xfrm>
            <a:off x="658368" y="3785616"/>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Relationship</a:t>
            </a:r>
          </a:p>
        </p:txBody>
      </p:sp>
      <p:sp>
        <p:nvSpPr>
          <p:cNvPr id="12" name="Rounded Rectangle 11"/>
          <p:cNvSpPr/>
          <p:nvPr/>
        </p:nvSpPr>
        <p:spPr>
          <a:xfrm>
            <a:off x="4288536" y="3785616"/>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Timing</a:t>
            </a:r>
          </a:p>
        </p:txBody>
      </p:sp>
      <p:sp>
        <p:nvSpPr>
          <p:cNvPr id="13" name="Rounded Rectangle 12"/>
          <p:cNvSpPr/>
          <p:nvPr/>
        </p:nvSpPr>
        <p:spPr>
          <a:xfrm>
            <a:off x="7918704" y="3785616"/>
            <a:ext cx="3520440" cy="640080"/>
          </a:xfrm>
          <a:prstGeom prst="roundRect">
            <a:avLst/>
          </a:prstGeom>
          <a:solidFill>
            <a:srgbClr val="FFFFFF"/>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0">
                <a:solidFill>
                  <a:srgbClr val="1F242E"/>
                </a:solidFill>
                <a:latin typeface="Calibri"/>
              </a:rPr>
              <a:t>Effort</a:t>
            </a:r>
          </a:p>
        </p:txBody>
      </p:sp>
      <p:sp>
        <p:nvSpPr>
          <p:cNvPr id="14" name="TextBox 13"/>
          <p:cNvSpPr txBox="1"/>
          <p:nvPr/>
        </p:nvSpPr>
        <p:spPr>
          <a:xfrm>
            <a:off x="658368" y="4754880"/>
            <a:ext cx="10881360" cy="365760"/>
          </a:xfrm>
          <a:prstGeom prst="rect">
            <a:avLst/>
          </a:prstGeom>
          <a:noFill/>
        </p:spPr>
        <p:txBody>
          <a:bodyPr wrap="square" anchor="t">
            <a:spAutoFit/>
          </a:bodyPr>
          <a:lstStyle/>
          <a:p>
            <a:pPr algn="l">
              <a:lnSpc>
                <a:spcPct val="115000"/>
              </a:lnSpc>
              <a:spcAft>
                <a:spcPts val="1000"/>
              </a:spcAft>
            </a:pPr>
            <a:r>
              <a:rPr sz="1500" b="0" i="0">
                <a:solidFill>
                  <a:srgbClr val="5A616E"/>
                </a:solidFill>
                <a:latin typeface="Calibri"/>
              </a:rPr>
              <a:t>Score each 1 to 5, then make the call.</a:t>
            </a:r>
          </a:p>
        </p:txBody>
      </p:sp>
      <p:sp>
        <p:nvSpPr>
          <p:cNvPr id="15" name="Rounded Rectangle 14"/>
          <p:cNvSpPr/>
          <p:nvPr/>
        </p:nvSpPr>
        <p:spPr>
          <a:xfrm>
            <a:off x="658368" y="5212080"/>
            <a:ext cx="1691640" cy="54864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1">
                <a:solidFill>
                  <a:srgbClr val="FFFFFF"/>
                </a:solidFill>
                <a:latin typeface="Calibri"/>
              </a:rPr>
              <a:t>Pursue</a:t>
            </a:r>
          </a:p>
        </p:txBody>
      </p:sp>
      <p:sp>
        <p:nvSpPr>
          <p:cNvPr id="16" name="Rounded Rectangle 15"/>
          <p:cNvSpPr/>
          <p:nvPr/>
        </p:nvSpPr>
        <p:spPr>
          <a:xfrm>
            <a:off x="2487168" y="5212080"/>
            <a:ext cx="1691640" cy="54864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1">
                <a:solidFill>
                  <a:srgbClr val="FFFFFF"/>
                </a:solidFill>
                <a:latin typeface="Calibri"/>
              </a:rPr>
              <a:t>Cultivate</a:t>
            </a:r>
          </a:p>
        </p:txBody>
      </p:sp>
      <p:sp>
        <p:nvSpPr>
          <p:cNvPr id="17" name="Rounded Rectangle 16"/>
          <p:cNvSpPr/>
          <p:nvPr/>
        </p:nvSpPr>
        <p:spPr>
          <a:xfrm>
            <a:off x="4315968" y="5212080"/>
            <a:ext cx="1691640" cy="54864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1">
                <a:solidFill>
                  <a:srgbClr val="FFFFFF"/>
                </a:solidFill>
                <a:latin typeface="Calibri"/>
              </a:rPr>
              <a:t>Monitor</a:t>
            </a:r>
          </a:p>
        </p:txBody>
      </p:sp>
      <p:sp>
        <p:nvSpPr>
          <p:cNvPr id="18" name="Rounded Rectangle 17"/>
          <p:cNvSpPr/>
          <p:nvPr/>
        </p:nvSpPr>
        <p:spPr>
          <a:xfrm>
            <a:off x="6144768" y="5212080"/>
            <a:ext cx="1691640" cy="54864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500" b="1">
                <a:solidFill>
                  <a:srgbClr val="FFFFFF"/>
                </a:solidFill>
                <a:latin typeface="Calibri"/>
              </a:rPr>
              <a:t>Decline</a:t>
            </a:r>
          </a:p>
        </p:txBody>
      </p:sp>
      <p:sp>
        <p:nvSpPr>
          <p:cNvPr id="19" name="TextBox 18"/>
          <p:cNvSpPr txBox="1"/>
          <p:nvPr/>
        </p:nvSpPr>
        <p:spPr>
          <a:xfrm>
            <a:off x="8229600" y="5285232"/>
            <a:ext cx="3291840" cy="457200"/>
          </a:xfrm>
          <a:prstGeom prst="rect">
            <a:avLst/>
          </a:prstGeom>
          <a:noFill/>
        </p:spPr>
        <p:txBody>
          <a:bodyPr wrap="square" anchor="t">
            <a:spAutoFit/>
          </a:bodyPr>
          <a:lstStyle/>
          <a:p>
            <a:pPr algn="l">
              <a:lnSpc>
                <a:spcPct val="115000"/>
              </a:lnSpc>
              <a:spcAft>
                <a:spcPts val="1000"/>
              </a:spcAft>
            </a:pPr>
            <a:r>
              <a:rPr sz="1400" b="0" i="1">
                <a:solidFill>
                  <a:srgbClr val="5A616E"/>
                </a:solidFill>
                <a:latin typeface="Calibri"/>
              </a:rPr>
              <a:t>Record why we said no.</a:t>
            </a:r>
          </a:p>
        </p:txBody>
      </p:sp>
      <p:pic>
        <p:nvPicPr>
          <p:cNvPr id="20" name="Picture 19"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21" name="TextBox 20"/>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5A61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3C78D8"/>
                </a:solidFill>
                <a:latin typeface="Calibri"/>
              </a:rPr>
              <a:t>SIX BLOCKS</a:t>
            </a:r>
          </a:p>
        </p:txBody>
      </p:sp>
      <p:sp>
        <p:nvSpPr>
          <p:cNvPr id="3" name="TextBox 2"/>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2F4FA2"/>
                </a:solidFill>
                <a:latin typeface="Calibri"/>
              </a:rPr>
              <a:t>Building the funding case</a:t>
            </a:r>
          </a:p>
        </p:txBody>
      </p:sp>
      <p:sp>
        <p:nvSpPr>
          <p:cNvPr id="4" name="Rectangle 3"/>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2468880"/>
            <a:ext cx="1691640" cy="118872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600" b="1">
                <a:solidFill>
                  <a:srgbClr val="FFFFFF"/>
                </a:solidFill>
                <a:latin typeface="Calibri"/>
              </a:rPr>
              <a:t>Problem</a:t>
            </a:r>
          </a:p>
        </p:txBody>
      </p:sp>
      <p:sp>
        <p:nvSpPr>
          <p:cNvPr id="6" name="Rounded Rectangle 5"/>
          <p:cNvSpPr/>
          <p:nvPr/>
        </p:nvSpPr>
        <p:spPr>
          <a:xfrm>
            <a:off x="2496312" y="2468880"/>
            <a:ext cx="1691640" cy="1188720"/>
          </a:xfrm>
          <a:prstGeom prst="round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600" b="1">
                <a:solidFill>
                  <a:srgbClr val="FFFFFF"/>
                </a:solidFill>
                <a:latin typeface="Calibri"/>
              </a:rPr>
              <a:t>Intervention</a:t>
            </a:r>
          </a:p>
        </p:txBody>
      </p:sp>
      <p:sp>
        <p:nvSpPr>
          <p:cNvPr id="7" name="Rounded Rectangle 6"/>
          <p:cNvSpPr/>
          <p:nvPr/>
        </p:nvSpPr>
        <p:spPr>
          <a:xfrm>
            <a:off x="4334256" y="2468880"/>
            <a:ext cx="1691640" cy="118872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600" b="1">
                <a:solidFill>
                  <a:srgbClr val="FFFFFF"/>
                </a:solidFill>
                <a:latin typeface="Calibri"/>
              </a:rPr>
              <a:t>Evidence</a:t>
            </a:r>
          </a:p>
        </p:txBody>
      </p:sp>
      <p:sp>
        <p:nvSpPr>
          <p:cNvPr id="8" name="Rounded Rectangle 7"/>
          <p:cNvSpPr/>
          <p:nvPr/>
        </p:nvSpPr>
        <p:spPr>
          <a:xfrm>
            <a:off x="6172200" y="2468880"/>
            <a:ext cx="1691640" cy="1188720"/>
          </a:xfrm>
          <a:prstGeom prst="round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600" b="1">
                <a:solidFill>
                  <a:srgbClr val="FFFFFF"/>
                </a:solidFill>
                <a:latin typeface="Calibri"/>
              </a:rPr>
              <a:t>Economics</a:t>
            </a:r>
          </a:p>
        </p:txBody>
      </p:sp>
      <p:sp>
        <p:nvSpPr>
          <p:cNvPr id="9" name="Rounded Rectangle 8"/>
          <p:cNvSpPr/>
          <p:nvPr/>
        </p:nvSpPr>
        <p:spPr>
          <a:xfrm>
            <a:off x="8010144" y="2468880"/>
            <a:ext cx="1691640" cy="118872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600" b="1">
                <a:solidFill>
                  <a:srgbClr val="FFFFFF"/>
                </a:solidFill>
                <a:latin typeface="Calibri"/>
              </a:rPr>
              <a:t>Ask</a:t>
            </a:r>
          </a:p>
        </p:txBody>
      </p:sp>
      <p:sp>
        <p:nvSpPr>
          <p:cNvPr id="10" name="Rounded Rectangle 9"/>
          <p:cNvSpPr/>
          <p:nvPr/>
        </p:nvSpPr>
        <p:spPr>
          <a:xfrm>
            <a:off x="9848088" y="2468880"/>
            <a:ext cx="1691640" cy="1188720"/>
          </a:xfrm>
          <a:prstGeom prst="round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600" b="1">
                <a:solidFill>
                  <a:srgbClr val="FFFFFF"/>
                </a:solidFill>
                <a:latin typeface="Calibri"/>
              </a:rPr>
              <a:t>Scale</a:t>
            </a:r>
          </a:p>
        </p:txBody>
      </p:sp>
      <p:sp>
        <p:nvSpPr>
          <p:cNvPr id="11" name="TextBox 10"/>
          <p:cNvSpPr txBox="1"/>
          <p:nvPr/>
        </p:nvSpPr>
        <p:spPr>
          <a:xfrm>
            <a:off x="658368" y="4114800"/>
            <a:ext cx="10881360" cy="1645920"/>
          </a:xfrm>
          <a:prstGeom prst="rect">
            <a:avLst/>
          </a:prstGeom>
          <a:noFill/>
        </p:spPr>
        <p:txBody>
          <a:bodyPr wrap="square">
            <a:spAutoFit/>
          </a:bodyPr>
          <a:lstStyle/>
          <a:p>
            <a:pPr>
              <a:lnSpc>
                <a:spcPct val="120000"/>
              </a:lnSpc>
              <a:spcAft>
                <a:spcPts val="1400"/>
              </a:spcAft>
            </a:pPr>
            <a:r>
              <a:rPr sz="1700">
                <a:solidFill>
                  <a:srgbClr val="3C78D8"/>
                </a:solidFill>
                <a:latin typeface="Calibri"/>
              </a:rPr>
              <a:t>•   </a:t>
            </a:r>
            <a:r>
              <a:rPr sz="1700">
                <a:solidFill>
                  <a:srgbClr val="1F242E"/>
                </a:solidFill>
                <a:latin typeface="Calibri"/>
              </a:rPr>
              <a:t>The story on its own does not survive a donor conversation.</a:t>
            </a:r>
          </a:p>
          <a:p>
            <a:pPr>
              <a:lnSpc>
                <a:spcPct val="120000"/>
              </a:lnSpc>
              <a:spcAft>
                <a:spcPts val="1400"/>
              </a:spcAft>
            </a:pPr>
            <a:r>
              <a:rPr sz="1700">
                <a:solidFill>
                  <a:srgbClr val="3C78D8"/>
                </a:solidFill>
                <a:latin typeface="Calibri"/>
              </a:rPr>
              <a:t>•   </a:t>
            </a:r>
            <a:r>
              <a:rPr sz="1700">
                <a:solidFill>
                  <a:srgbClr val="1F242E"/>
                </a:solidFill>
                <a:latin typeface="Calibri"/>
              </a:rPr>
              <a:t>The numbers on their own do not give anyone a reason to care.</a:t>
            </a:r>
          </a:p>
          <a:p>
            <a:pPr>
              <a:lnSpc>
                <a:spcPct val="120000"/>
              </a:lnSpc>
              <a:spcAft>
                <a:spcPts val="1400"/>
              </a:spcAft>
            </a:pPr>
            <a:r>
              <a:rPr sz="1700">
                <a:solidFill>
                  <a:srgbClr val="3C78D8"/>
                </a:solidFill>
                <a:latin typeface="Calibri"/>
              </a:rPr>
              <a:t>•   </a:t>
            </a:r>
            <a:r>
              <a:rPr sz="1700">
                <a:solidFill>
                  <a:srgbClr val="1F242E"/>
                </a:solidFill>
                <a:latin typeface="Calibri"/>
              </a:rPr>
              <a:t>Output: a one page case, plus a list of what is missing and who owns getting it.</a:t>
            </a:r>
          </a:p>
        </p:txBody>
      </p:sp>
      <p:pic>
        <p:nvPicPr>
          <p:cNvPr id="12" name="Picture 11"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13" name="TextBox 12"/>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5A61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3C78D8"/>
                </a:solidFill>
                <a:latin typeface="Calibri"/>
              </a:rPr>
              <a:t>FINANCE AND EVIDENCE</a:t>
            </a:r>
          </a:p>
        </p:txBody>
      </p:sp>
      <p:sp>
        <p:nvSpPr>
          <p:cNvPr id="3" name="TextBox 2"/>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2F4FA2"/>
                </a:solidFill>
                <a:latin typeface="Calibri"/>
              </a:rPr>
              <a:t>Understanding the numbers</a:t>
            </a:r>
          </a:p>
        </p:txBody>
      </p:sp>
      <p:sp>
        <p:nvSpPr>
          <p:cNvPr id="4" name="Rectangle 3"/>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240280"/>
            <a:ext cx="5852160" cy="3108960"/>
          </a:xfrm>
          <a:prstGeom prst="rect">
            <a:avLst/>
          </a:prstGeom>
          <a:noFill/>
        </p:spPr>
        <p:txBody>
          <a:bodyPr wrap="square">
            <a:spAutoFit/>
          </a:bodyPr>
          <a:lstStyle/>
          <a:p>
            <a:pPr>
              <a:lnSpc>
                <a:spcPct val="120000"/>
              </a:lnSpc>
              <a:spcAft>
                <a:spcPts val="1600"/>
              </a:spcAft>
            </a:pPr>
            <a:r>
              <a:rPr sz="1700">
                <a:solidFill>
                  <a:srgbClr val="3C78D8"/>
                </a:solidFill>
                <a:latin typeface="Calibri"/>
              </a:rPr>
              <a:t>•   </a:t>
            </a:r>
            <a:r>
              <a:rPr sz="1700">
                <a:solidFill>
                  <a:srgbClr val="1F242E"/>
                </a:solidFill>
                <a:latin typeface="Calibri"/>
              </a:rPr>
              <a:t>Programme cost, direct and indirect</a:t>
            </a:r>
          </a:p>
          <a:p>
            <a:pPr>
              <a:lnSpc>
                <a:spcPct val="120000"/>
              </a:lnSpc>
              <a:spcAft>
                <a:spcPts val="1600"/>
              </a:spcAft>
            </a:pPr>
            <a:r>
              <a:rPr sz="1700">
                <a:solidFill>
                  <a:srgbClr val="3C78D8"/>
                </a:solidFill>
                <a:latin typeface="Calibri"/>
              </a:rPr>
              <a:t>•   </a:t>
            </a:r>
            <a:r>
              <a:rPr sz="1700">
                <a:solidFill>
                  <a:srgbClr val="1F242E"/>
                </a:solidFill>
                <a:latin typeface="Calibri"/>
              </a:rPr>
              <a:t>Cost per child, per school, per teacher</a:t>
            </a:r>
          </a:p>
          <a:p>
            <a:pPr>
              <a:lnSpc>
                <a:spcPct val="120000"/>
              </a:lnSpc>
              <a:spcAft>
                <a:spcPts val="1600"/>
              </a:spcAft>
            </a:pPr>
            <a:r>
              <a:rPr sz="1700">
                <a:solidFill>
                  <a:srgbClr val="3C78D8"/>
                </a:solidFill>
                <a:latin typeface="Calibri"/>
              </a:rPr>
              <a:t>•   </a:t>
            </a:r>
            <a:r>
              <a:rPr sz="1700">
                <a:solidFill>
                  <a:srgbClr val="1F242E"/>
                </a:solidFill>
                <a:latin typeface="Calibri"/>
              </a:rPr>
              <a:t>Cost per outcome, where we have the data</a:t>
            </a:r>
          </a:p>
          <a:p>
            <a:pPr>
              <a:lnSpc>
                <a:spcPct val="120000"/>
              </a:lnSpc>
              <a:spcAft>
                <a:spcPts val="1600"/>
              </a:spcAft>
            </a:pPr>
            <a:r>
              <a:rPr sz="1700">
                <a:solidFill>
                  <a:srgbClr val="3C78D8"/>
                </a:solidFill>
                <a:latin typeface="Calibri"/>
              </a:rPr>
              <a:t>•   </a:t>
            </a:r>
            <a:r>
              <a:rPr sz="1700">
                <a:solidFill>
                  <a:srgbClr val="1F242E"/>
                </a:solidFill>
                <a:latin typeface="Calibri"/>
              </a:rPr>
              <a:t>Restricted and unrestricted, co-funding, funding gap</a:t>
            </a:r>
          </a:p>
        </p:txBody>
      </p:sp>
      <p:sp>
        <p:nvSpPr>
          <p:cNvPr id="6" name="Rounded Rectangle 5"/>
          <p:cNvSpPr/>
          <p:nvPr/>
        </p:nvSpPr>
        <p:spPr>
          <a:xfrm>
            <a:off x="6858000" y="2240280"/>
            <a:ext cx="4681728" cy="246888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2395728"/>
            <a:ext cx="4206240" cy="2194560"/>
          </a:xfrm>
          <a:prstGeom prst="rect">
            <a:avLst/>
          </a:prstGeom>
          <a:noFill/>
        </p:spPr>
        <p:txBody>
          <a:bodyPr wrap="square" anchor="t">
            <a:spAutoFit/>
          </a:bodyPr>
          <a:lstStyle/>
          <a:p>
            <a:pPr algn="l">
              <a:lnSpc>
                <a:spcPct val="115000"/>
              </a:lnSpc>
              <a:spcAft>
                <a:spcPts val="900"/>
              </a:spcAft>
            </a:pPr>
            <a:r>
              <a:rPr sz="1300" b="0" i="0">
                <a:solidFill>
                  <a:srgbClr val="2F4FA2"/>
                </a:solidFill>
                <a:latin typeface="Calibri"/>
              </a:rPr>
              <a:t>WORKED EXAMPLE</a:t>
            </a:r>
          </a:p>
          <a:p>
            <a:pPr algn="l">
              <a:lnSpc>
                <a:spcPct val="115000"/>
              </a:lnSpc>
              <a:spcAft>
                <a:spcPts val="900"/>
              </a:spcAft>
            </a:pPr>
            <a:r>
              <a:rPr sz="1300" b="0" i="0">
                <a:solidFill>
                  <a:srgbClr val="2F4FA2"/>
                </a:solidFill>
                <a:latin typeface="Calibri"/>
              </a:rPr>
              <a:t>Programme budget:  ____________</a:t>
            </a:r>
          </a:p>
          <a:p>
            <a:pPr algn="l">
              <a:lnSpc>
                <a:spcPct val="115000"/>
              </a:lnSpc>
              <a:spcAft>
                <a:spcPts val="900"/>
              </a:spcAft>
            </a:pPr>
            <a:r>
              <a:rPr sz="1300" b="0" i="0">
                <a:solidFill>
                  <a:srgbClr val="2F4FA2"/>
                </a:solidFill>
                <a:latin typeface="Calibri"/>
              </a:rPr>
              <a:t>Children reached:  ____________</a:t>
            </a:r>
          </a:p>
          <a:p>
            <a:pPr algn="l">
              <a:lnSpc>
                <a:spcPct val="115000"/>
              </a:lnSpc>
              <a:spcAft>
                <a:spcPts val="900"/>
              </a:spcAft>
            </a:pPr>
            <a:r>
              <a:rPr sz="1300" b="0" i="0">
                <a:solidFill>
                  <a:srgbClr val="2F4FA2"/>
                </a:solidFill>
                <a:latin typeface="Calibri"/>
              </a:rPr>
              <a:t>Cost per child:  ____________</a:t>
            </a:r>
          </a:p>
          <a:p>
            <a:pPr algn="l">
              <a:lnSpc>
                <a:spcPct val="115000"/>
              </a:lnSpc>
              <a:spcAft>
                <a:spcPts val="900"/>
              </a:spcAft>
            </a:pPr>
            <a:r>
              <a:rPr sz="1300" b="0" i="0">
                <a:solidFill>
                  <a:srgbClr val="2F4FA2"/>
                </a:solidFill>
                <a:latin typeface="Calibri"/>
              </a:rPr>
              <a:t>[To be added/validated with Finance]</a:t>
            </a:r>
          </a:p>
        </p:txBody>
      </p:sp>
      <p:sp>
        <p:nvSpPr>
          <p:cNvPr id="8" name="Rounded Rectangle 7"/>
          <p:cNvSpPr/>
          <p:nvPr/>
        </p:nvSpPr>
        <p:spPr>
          <a:xfrm>
            <a:off x="658368" y="4983480"/>
            <a:ext cx="10881360" cy="777240"/>
          </a:xfrm>
          <a:prstGeom prst="roundRect">
            <a:avLst/>
          </a:prstGeom>
          <a:solidFill>
            <a:srgbClr val="FFFFFF"/>
          </a:solidFill>
          <a:ln w="15875">
            <a:solidFill>
              <a:srgbClr val="3C7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38928"/>
            <a:ext cx="10424160" cy="548640"/>
          </a:xfrm>
          <a:prstGeom prst="rect">
            <a:avLst/>
          </a:prstGeom>
          <a:noFill/>
        </p:spPr>
        <p:txBody>
          <a:bodyPr wrap="square" anchor="t">
            <a:spAutoFit/>
          </a:bodyPr>
          <a:lstStyle/>
          <a:p>
            <a:pPr algn="l">
              <a:lnSpc>
                <a:spcPct val="115000"/>
              </a:lnSpc>
              <a:spcAft>
                <a:spcPts val="1000"/>
              </a:spcAft>
            </a:pPr>
            <a:r>
              <a:rPr sz="1600" b="1" i="0">
                <a:solidFill>
                  <a:srgbClr val="2F4FA2"/>
                </a:solidFill>
                <a:latin typeface="Calibri"/>
              </a:rPr>
              <a:t>We are not replacing Finance. We need to explain the case, and know when to bring them in.</a:t>
            </a:r>
          </a:p>
        </p:txBody>
      </p:sp>
      <p:pic>
        <p:nvPicPr>
          <p:cNvPr id="10" name="Picture 9"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11" name="TextBox 10"/>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5A61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9EB8E8"/>
                </a:solidFill>
                <a:latin typeface="Calibri"/>
              </a:rPr>
              <a:t>ROLE PLAY, 25 MINUTES</a:t>
            </a:r>
          </a:p>
        </p:txBody>
      </p:sp>
      <p:sp>
        <p:nvSpPr>
          <p:cNvPr id="4" name="TextBox 3"/>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FFFFFF"/>
                </a:solidFill>
                <a:latin typeface="Calibri"/>
              </a:rPr>
              <a:t>Let us meet the donor</a:t>
            </a:r>
          </a:p>
        </p:txBody>
      </p:sp>
      <p:sp>
        <p:nvSpPr>
          <p:cNvPr id="5" name="Rectangle 4"/>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77440"/>
            <a:ext cx="10881360" cy="914400"/>
          </a:xfrm>
          <a:prstGeom prst="rect">
            <a:avLst/>
          </a:prstGeom>
          <a:noFill/>
        </p:spPr>
        <p:txBody>
          <a:bodyPr wrap="square" anchor="t">
            <a:spAutoFit/>
          </a:bodyPr>
          <a:lstStyle/>
          <a:p>
            <a:pPr algn="l">
              <a:lnSpc>
                <a:spcPct val="115000"/>
              </a:lnSpc>
              <a:spcAft>
                <a:spcPts val="0"/>
              </a:spcAft>
            </a:pPr>
            <a:r>
              <a:rPr sz="3600" b="1" i="0">
                <a:solidFill>
                  <a:srgbClr val="FFFFFF"/>
                </a:solidFill>
                <a:latin typeface="Calibri"/>
              </a:rPr>
              <a:t>No pitching for the first five minutes.</a:t>
            </a:r>
          </a:p>
        </p:txBody>
      </p:sp>
      <p:sp>
        <p:nvSpPr>
          <p:cNvPr id="7" name="TextBox 6"/>
          <p:cNvSpPr txBox="1"/>
          <p:nvPr/>
        </p:nvSpPr>
        <p:spPr>
          <a:xfrm>
            <a:off x="685800" y="3200400"/>
            <a:ext cx="10881360" cy="457200"/>
          </a:xfrm>
          <a:prstGeom prst="rect">
            <a:avLst/>
          </a:prstGeom>
          <a:noFill/>
        </p:spPr>
        <p:txBody>
          <a:bodyPr wrap="square" anchor="t">
            <a:spAutoFit/>
          </a:bodyPr>
          <a:lstStyle/>
          <a:p>
            <a:pPr algn="l">
              <a:lnSpc>
                <a:spcPct val="115000"/>
              </a:lnSpc>
              <a:spcAft>
                <a:spcPts val="1000"/>
              </a:spcAft>
            </a:pPr>
            <a:r>
              <a:rPr sz="1900" b="0" i="0">
                <a:solidFill>
                  <a:srgbClr val="C7D5F0"/>
                </a:solidFill>
                <a:latin typeface="Calibri"/>
              </a:rPr>
              <a:t>Your job at the start is to understand them.</a:t>
            </a:r>
          </a:p>
        </p:txBody>
      </p:sp>
      <p:sp>
        <p:nvSpPr>
          <p:cNvPr id="8" name="Rounded Rectangle 7"/>
          <p:cNvSpPr/>
          <p:nvPr/>
        </p:nvSpPr>
        <p:spPr>
          <a:xfrm>
            <a:off x="658368" y="4114800"/>
            <a:ext cx="3566160" cy="603504"/>
          </a:xfrm>
          <a:prstGeom prst="roundRect">
            <a:avLst/>
          </a:prstGeom>
          <a:solidFill>
            <a:srgbClr val="3E5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300" b="0">
                <a:solidFill>
                  <a:srgbClr val="FFFFFF"/>
                </a:solidFill>
                <a:latin typeface="Calibri"/>
              </a:rPr>
              <a:t>Why Taleemabad?</a:t>
            </a:r>
          </a:p>
        </p:txBody>
      </p:sp>
      <p:sp>
        <p:nvSpPr>
          <p:cNvPr id="9" name="Rounded Rectangle 8"/>
          <p:cNvSpPr/>
          <p:nvPr/>
        </p:nvSpPr>
        <p:spPr>
          <a:xfrm>
            <a:off x="4370831" y="4114800"/>
            <a:ext cx="3566160" cy="603504"/>
          </a:xfrm>
          <a:prstGeom prst="roundRect">
            <a:avLst/>
          </a:prstGeom>
          <a:solidFill>
            <a:srgbClr val="3E5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300" b="0">
                <a:solidFill>
                  <a:srgbClr val="FFFFFF"/>
                </a:solidFill>
                <a:latin typeface="Calibri"/>
              </a:rPr>
              <a:t>How do you know this works?</a:t>
            </a:r>
          </a:p>
        </p:txBody>
      </p:sp>
      <p:sp>
        <p:nvSpPr>
          <p:cNvPr id="10" name="Rounded Rectangle 9"/>
          <p:cNvSpPr/>
          <p:nvPr/>
        </p:nvSpPr>
        <p:spPr>
          <a:xfrm>
            <a:off x="8083294" y="4114800"/>
            <a:ext cx="3566160" cy="603504"/>
          </a:xfrm>
          <a:prstGeom prst="roundRect">
            <a:avLst/>
          </a:prstGeom>
          <a:solidFill>
            <a:srgbClr val="3E5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300" b="0">
                <a:solidFill>
                  <a:srgbClr val="FFFFFF"/>
                </a:solidFill>
                <a:latin typeface="Calibri"/>
              </a:rPr>
              <a:t>What does it cost?</a:t>
            </a:r>
          </a:p>
        </p:txBody>
      </p:sp>
      <p:sp>
        <p:nvSpPr>
          <p:cNvPr id="11" name="Rounded Rectangle 10"/>
          <p:cNvSpPr/>
          <p:nvPr/>
        </p:nvSpPr>
        <p:spPr>
          <a:xfrm>
            <a:off x="658368" y="4828032"/>
            <a:ext cx="3566160" cy="603504"/>
          </a:xfrm>
          <a:prstGeom prst="roundRect">
            <a:avLst/>
          </a:prstGeom>
          <a:solidFill>
            <a:srgbClr val="3E5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300" b="0">
                <a:solidFill>
                  <a:srgbClr val="FFFFFF"/>
                </a:solidFill>
                <a:latin typeface="Calibri"/>
              </a:rPr>
              <a:t>What would my funding enable?</a:t>
            </a:r>
          </a:p>
        </p:txBody>
      </p:sp>
      <p:sp>
        <p:nvSpPr>
          <p:cNvPr id="12" name="Rounded Rectangle 11"/>
          <p:cNvSpPr/>
          <p:nvPr/>
        </p:nvSpPr>
        <p:spPr>
          <a:xfrm>
            <a:off x="4370831" y="4828032"/>
            <a:ext cx="3566160" cy="603504"/>
          </a:xfrm>
          <a:prstGeom prst="roundRect">
            <a:avLst/>
          </a:prstGeom>
          <a:solidFill>
            <a:srgbClr val="3E5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300" b="0">
                <a:solidFill>
                  <a:srgbClr val="FFFFFF"/>
                </a:solidFill>
                <a:latin typeface="Calibri"/>
              </a:rPr>
              <a:t>What happens when my grant ends?</a:t>
            </a:r>
          </a:p>
        </p:txBody>
      </p:sp>
      <p:sp>
        <p:nvSpPr>
          <p:cNvPr id="13" name="Rounded Rectangle 12"/>
          <p:cNvSpPr/>
          <p:nvPr/>
        </p:nvSpPr>
        <p:spPr>
          <a:xfrm>
            <a:off x="8083294" y="4828032"/>
            <a:ext cx="3566160" cy="603504"/>
          </a:xfrm>
          <a:prstGeom prst="roundRect">
            <a:avLst/>
          </a:prstGeom>
          <a:solidFill>
            <a:srgbClr val="3E5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300" b="0">
                <a:solidFill>
                  <a:srgbClr val="FFFFFF"/>
                </a:solidFill>
                <a:latin typeface="Calibri"/>
              </a:rPr>
              <a:t>How could this scale, and who pays?</a:t>
            </a:r>
          </a:p>
        </p:txBody>
      </p:sp>
      <p:pic>
        <p:nvPicPr>
          <p:cNvPr id="14" name="Picture 13"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15" name="TextBox 14"/>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3C78D8"/>
                </a:solidFill>
                <a:latin typeface="Calibri"/>
              </a:rPr>
              <a:t>TWELVE, PROPOSED</a:t>
            </a:r>
          </a:p>
        </p:txBody>
      </p:sp>
      <p:sp>
        <p:nvSpPr>
          <p:cNvPr id="3" name="TextBox 2"/>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2F4FA2"/>
                </a:solidFill>
                <a:latin typeface="Calibri"/>
              </a:rPr>
              <a:t>The capabilities we want to build</a:t>
            </a:r>
          </a:p>
        </p:txBody>
      </p:sp>
      <p:sp>
        <p:nvSpPr>
          <p:cNvPr id="4" name="Rectangle 3"/>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2240280"/>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Understanding our organisation</a:t>
            </a:r>
          </a:p>
          <a:p>
            <a:pPr algn="l">
              <a:lnSpc>
                <a:spcPct val="100000"/>
              </a:lnSpc>
            </a:pPr>
            <a:r>
              <a:rPr sz="950">
                <a:solidFill>
                  <a:srgbClr val="5A616E"/>
                </a:solidFill>
                <a:latin typeface="Calibri"/>
              </a:rPr>
              <a:t>Explains us, and why to fund us, without notes</a:t>
            </a:r>
          </a:p>
        </p:txBody>
      </p:sp>
      <p:sp>
        <p:nvSpPr>
          <p:cNvPr id="6" name="Rounded Rectangle 5"/>
          <p:cNvSpPr/>
          <p:nvPr/>
        </p:nvSpPr>
        <p:spPr>
          <a:xfrm>
            <a:off x="3415284" y="2240280"/>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Donor research</a:t>
            </a:r>
          </a:p>
          <a:p>
            <a:pPr algn="l">
              <a:lnSpc>
                <a:spcPct val="100000"/>
              </a:lnSpc>
            </a:pPr>
            <a:r>
              <a:rPr sz="950">
                <a:solidFill>
                  <a:srgbClr val="5A616E"/>
                </a:solidFill>
                <a:latin typeface="Calibri"/>
              </a:rPr>
              <a:t>Knows what they fund, where, how much, and the route in</a:t>
            </a:r>
          </a:p>
        </p:txBody>
      </p:sp>
      <p:sp>
        <p:nvSpPr>
          <p:cNvPr id="7" name="Rounded Rectangle 6"/>
          <p:cNvSpPr/>
          <p:nvPr/>
        </p:nvSpPr>
        <p:spPr>
          <a:xfrm>
            <a:off x="6172200" y="2240280"/>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Donor qualification</a:t>
            </a:r>
          </a:p>
          <a:p>
            <a:pPr algn="l">
              <a:lnSpc>
                <a:spcPct val="100000"/>
              </a:lnSpc>
            </a:pPr>
            <a:r>
              <a:rPr sz="950">
                <a:solidFill>
                  <a:srgbClr val="5A616E"/>
                </a:solidFill>
                <a:latin typeface="Calibri"/>
              </a:rPr>
              <a:t>Reaches a clear call, and can defend a no</a:t>
            </a:r>
          </a:p>
        </p:txBody>
      </p:sp>
      <p:sp>
        <p:nvSpPr>
          <p:cNvPr id="8" name="Rounded Rectangle 7"/>
          <p:cNvSpPr/>
          <p:nvPr/>
        </p:nvSpPr>
        <p:spPr>
          <a:xfrm>
            <a:off x="8929116" y="2240280"/>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Stakeholder mapping</a:t>
            </a:r>
          </a:p>
          <a:p>
            <a:pPr algn="l">
              <a:lnSpc>
                <a:spcPct val="100000"/>
              </a:lnSpc>
            </a:pPr>
            <a:r>
              <a:rPr sz="950">
                <a:solidFill>
                  <a:srgbClr val="5A616E"/>
                </a:solidFill>
                <a:latin typeface="Calibri"/>
              </a:rPr>
              <a:t>Knows who decides, and how we get in front of them</a:t>
            </a:r>
          </a:p>
        </p:txBody>
      </p:sp>
      <p:sp>
        <p:nvSpPr>
          <p:cNvPr id="9" name="Rounded Rectangle 8"/>
          <p:cNvSpPr/>
          <p:nvPr/>
        </p:nvSpPr>
        <p:spPr>
          <a:xfrm>
            <a:off x="658368" y="3346704"/>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Donor engagement and listening</a:t>
            </a:r>
          </a:p>
          <a:p>
            <a:pPr algn="l">
              <a:lnSpc>
                <a:spcPct val="100000"/>
              </a:lnSpc>
            </a:pPr>
            <a:r>
              <a:rPr sz="950">
                <a:solidFill>
                  <a:srgbClr val="5A616E"/>
                </a:solidFill>
                <a:latin typeface="Calibri"/>
              </a:rPr>
              <a:t>Comes out knowing what the funder cares about</a:t>
            </a:r>
          </a:p>
        </p:txBody>
      </p:sp>
      <p:sp>
        <p:nvSpPr>
          <p:cNvPr id="10" name="Rounded Rectangle 9"/>
          <p:cNvSpPr/>
          <p:nvPr/>
        </p:nvSpPr>
        <p:spPr>
          <a:xfrm>
            <a:off x="3415284" y="3346704"/>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Storytelling and pitching</a:t>
            </a:r>
          </a:p>
          <a:p>
            <a:pPr algn="l">
              <a:lnSpc>
                <a:spcPct val="100000"/>
              </a:lnSpc>
            </a:pPr>
            <a:r>
              <a:rPr sz="950">
                <a:solidFill>
                  <a:srgbClr val="5A616E"/>
                </a:solidFill>
                <a:latin typeface="Calibri"/>
              </a:rPr>
              <a:t>Story, evidence and economics in one case</a:t>
            </a:r>
          </a:p>
        </p:txBody>
      </p:sp>
      <p:sp>
        <p:nvSpPr>
          <p:cNvPr id="11" name="Rounded Rectangle 10"/>
          <p:cNvSpPr/>
          <p:nvPr/>
        </p:nvSpPr>
        <p:spPr>
          <a:xfrm>
            <a:off x="6172200" y="3346704"/>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Proposal and grant development</a:t>
            </a:r>
          </a:p>
          <a:p>
            <a:pPr algn="l">
              <a:lnSpc>
                <a:spcPct val="100000"/>
              </a:lnSpc>
            </a:pPr>
            <a:r>
              <a:rPr sz="950">
                <a:solidFill>
                  <a:srgbClr val="5A616E"/>
                </a:solidFill>
                <a:latin typeface="Calibri"/>
              </a:rPr>
              <a:t>Works from their requirements, flags what is missing</a:t>
            </a:r>
          </a:p>
        </p:txBody>
      </p:sp>
      <p:sp>
        <p:nvSpPr>
          <p:cNvPr id="12" name="Rounded Rectangle 11"/>
          <p:cNvSpPr/>
          <p:nvPr/>
        </p:nvSpPr>
        <p:spPr>
          <a:xfrm>
            <a:off x="8929116" y="3346704"/>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Financial literacy</a:t>
            </a:r>
          </a:p>
          <a:p>
            <a:pPr algn="l">
              <a:lnSpc>
                <a:spcPct val="100000"/>
              </a:lnSpc>
            </a:pPr>
            <a:r>
              <a:rPr sz="950">
                <a:solidFill>
                  <a:srgbClr val="5A616E"/>
                </a:solidFill>
                <a:latin typeface="Calibri"/>
              </a:rPr>
              <a:t>Explains the costs, knows when to bring Finance in</a:t>
            </a:r>
          </a:p>
        </p:txBody>
      </p:sp>
      <p:sp>
        <p:nvSpPr>
          <p:cNvPr id="13" name="Rounded Rectangle 12"/>
          <p:cNvSpPr/>
          <p:nvPr/>
        </p:nvSpPr>
        <p:spPr>
          <a:xfrm>
            <a:off x="658368" y="4453128"/>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Evidence and M&amp;E literacy</a:t>
            </a:r>
          </a:p>
          <a:p>
            <a:pPr algn="l">
              <a:lnSpc>
                <a:spcPct val="100000"/>
              </a:lnSpc>
            </a:pPr>
            <a:r>
              <a:rPr sz="950">
                <a:solidFill>
                  <a:srgbClr val="5A616E"/>
                </a:solidFill>
                <a:latin typeface="Calibri"/>
              </a:rPr>
              <a:t>Clear about what our data does not show</a:t>
            </a:r>
          </a:p>
        </p:txBody>
      </p:sp>
      <p:sp>
        <p:nvSpPr>
          <p:cNvPr id="14" name="Rounded Rectangle 13"/>
          <p:cNvSpPr/>
          <p:nvPr/>
        </p:nvSpPr>
        <p:spPr>
          <a:xfrm>
            <a:off x="3415284" y="4453128"/>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Cost-effectiveness and scale</a:t>
            </a:r>
          </a:p>
          <a:p>
            <a:pPr algn="l">
              <a:lnSpc>
                <a:spcPct val="100000"/>
              </a:lnSpc>
            </a:pPr>
            <a:r>
              <a:rPr sz="950">
                <a:solidFill>
                  <a:srgbClr val="5A616E"/>
                </a:solidFill>
                <a:latin typeface="Calibri"/>
              </a:rPr>
              <a:t>Value for money, and a realistic route to scale</a:t>
            </a:r>
          </a:p>
        </p:txBody>
      </p:sp>
      <p:sp>
        <p:nvSpPr>
          <p:cNvPr id="15" name="Rounded Rectangle 14"/>
          <p:cNvSpPr/>
          <p:nvPr/>
        </p:nvSpPr>
        <p:spPr>
          <a:xfrm>
            <a:off x="6172200" y="4453128"/>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Pipeline management</a:t>
            </a:r>
          </a:p>
          <a:p>
            <a:pPr algn="l">
              <a:lnSpc>
                <a:spcPct val="100000"/>
              </a:lnSpc>
            </a:pPr>
            <a:r>
              <a:rPr sz="950">
                <a:solidFill>
                  <a:srgbClr val="5A616E"/>
                </a:solidFill>
                <a:latin typeface="Calibri"/>
              </a:rPr>
              <a:t>Owner, next action, value and status kept current</a:t>
            </a:r>
          </a:p>
        </p:txBody>
      </p:sp>
      <p:sp>
        <p:nvSpPr>
          <p:cNvPr id="16" name="Rounded Rectangle 15"/>
          <p:cNvSpPr/>
          <p:nvPr/>
        </p:nvSpPr>
        <p:spPr>
          <a:xfrm>
            <a:off x="8929116" y="4453128"/>
            <a:ext cx="2624328" cy="96012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18872" bIns="54864"/>
          <a:lstStyle/>
          <a:p>
            <a:pPr algn="l">
              <a:lnSpc>
                <a:spcPct val="100000"/>
              </a:lnSpc>
              <a:spcAft>
                <a:spcPts val="400"/>
              </a:spcAft>
            </a:pPr>
            <a:r>
              <a:rPr sz="1200" b="1">
                <a:solidFill>
                  <a:srgbClr val="2F4FA2"/>
                </a:solidFill>
                <a:latin typeface="Calibri"/>
              </a:rPr>
              <a:t>Stewardship and ethics</a:t>
            </a:r>
          </a:p>
          <a:p>
            <a:pPr algn="l">
              <a:lnSpc>
                <a:spcPct val="100000"/>
              </a:lnSpc>
            </a:pPr>
            <a:r>
              <a:rPr sz="950">
                <a:solidFill>
                  <a:srgbClr val="5A616E"/>
                </a:solidFill>
                <a:latin typeface="Calibri"/>
              </a:rPr>
              <a:t>Reports accurately, does not overstate to win funding</a:t>
            </a:r>
          </a:p>
        </p:txBody>
      </p:sp>
      <p:sp>
        <p:nvSpPr>
          <p:cNvPr id="17" name="TextBox 16"/>
          <p:cNvSpPr txBox="1"/>
          <p:nvPr/>
        </p:nvSpPr>
        <p:spPr>
          <a:xfrm>
            <a:off x="658368" y="5650992"/>
            <a:ext cx="10881360" cy="457200"/>
          </a:xfrm>
          <a:prstGeom prst="rect">
            <a:avLst/>
          </a:prstGeom>
          <a:noFill/>
        </p:spPr>
        <p:txBody>
          <a:bodyPr wrap="square" anchor="t">
            <a:spAutoFit/>
          </a:bodyPr>
          <a:lstStyle/>
          <a:p>
            <a:pPr algn="l">
              <a:lnSpc>
                <a:spcPct val="115000"/>
              </a:lnSpc>
              <a:spcAft>
                <a:spcPts val="1000"/>
              </a:spcAft>
            </a:pPr>
            <a:r>
              <a:rPr sz="1300" b="0" i="0">
                <a:solidFill>
                  <a:srgbClr val="5A616E"/>
                </a:solidFill>
                <a:latin typeface="Calibri"/>
              </a:rPr>
              <a:t>The second line in each box is what we would expect to see in practice. A proposed list, not a finalised framework.</a:t>
            </a:r>
          </a:p>
        </p:txBody>
      </p:sp>
      <p:pic>
        <p:nvPicPr>
          <p:cNvPr id="18" name="Picture 17"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19" name="TextBox 18"/>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5A61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81360" cy="274320"/>
          </a:xfrm>
          <a:prstGeom prst="rect">
            <a:avLst/>
          </a:prstGeom>
          <a:noFill/>
        </p:spPr>
        <p:txBody>
          <a:bodyPr wrap="square" anchor="t">
            <a:spAutoFit/>
          </a:bodyPr>
          <a:lstStyle/>
          <a:p>
            <a:pPr algn="l">
              <a:lnSpc>
                <a:spcPct val="115000"/>
              </a:lnSpc>
              <a:spcAft>
                <a:spcPts val="0"/>
              </a:spcAft>
            </a:pPr>
            <a:r>
              <a:rPr sz="1100" b="1" i="0">
                <a:solidFill>
                  <a:srgbClr val="3C78D8"/>
                </a:solidFill>
                <a:latin typeface="Calibri"/>
              </a:rPr>
              <a:t>WHAT HAPPENS NEXT</a:t>
            </a:r>
          </a:p>
        </p:txBody>
      </p:sp>
      <p:sp>
        <p:nvSpPr>
          <p:cNvPr id="3" name="TextBox 2"/>
          <p:cNvSpPr txBox="1"/>
          <p:nvPr/>
        </p:nvSpPr>
        <p:spPr>
          <a:xfrm>
            <a:off x="658368" y="868680"/>
            <a:ext cx="10881360" cy="731520"/>
          </a:xfrm>
          <a:prstGeom prst="rect">
            <a:avLst/>
          </a:prstGeom>
          <a:noFill/>
        </p:spPr>
        <p:txBody>
          <a:bodyPr wrap="square" anchor="t">
            <a:spAutoFit/>
          </a:bodyPr>
          <a:lstStyle/>
          <a:p>
            <a:pPr algn="l">
              <a:lnSpc>
                <a:spcPct val="115000"/>
              </a:lnSpc>
              <a:spcAft>
                <a:spcPts val="0"/>
              </a:spcAft>
            </a:pPr>
            <a:r>
              <a:rPr sz="3200" b="1" i="0">
                <a:solidFill>
                  <a:srgbClr val="2F4FA2"/>
                </a:solidFill>
                <a:latin typeface="Calibri"/>
              </a:rPr>
              <a:t>From workshop to actual work</a:t>
            </a:r>
          </a:p>
        </p:txBody>
      </p:sp>
      <p:sp>
        <p:nvSpPr>
          <p:cNvPr id="4" name="Rectangle 3"/>
          <p:cNvSpPr/>
          <p:nvPr/>
        </p:nvSpPr>
        <p:spPr>
          <a:xfrm>
            <a:off x="658368" y="1527048"/>
            <a:ext cx="1005840" cy="38100"/>
          </a:xfrm>
          <a:prstGeom prst="rect">
            <a:avLst/>
          </a:prstGeom>
          <a:solidFill>
            <a:srgbClr val="3C7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2468880"/>
            <a:ext cx="2048256" cy="114300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400" b="1">
                <a:solidFill>
                  <a:srgbClr val="FFFFFF"/>
                </a:solidFill>
                <a:latin typeface="Calibri"/>
              </a:rPr>
              <a:t>Workshop</a:t>
            </a:r>
          </a:p>
        </p:txBody>
      </p:sp>
      <p:sp>
        <p:nvSpPr>
          <p:cNvPr id="6" name="Rounded Rectangle 5"/>
          <p:cNvSpPr/>
          <p:nvPr/>
        </p:nvSpPr>
        <p:spPr>
          <a:xfrm>
            <a:off x="2866644" y="2468880"/>
            <a:ext cx="2048256" cy="114300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400" b="0">
                <a:solidFill>
                  <a:srgbClr val="1F242E"/>
                </a:solidFill>
                <a:latin typeface="Calibri"/>
              </a:rPr>
              <a:t>Real assignments</a:t>
            </a:r>
          </a:p>
        </p:txBody>
      </p:sp>
      <p:sp>
        <p:nvSpPr>
          <p:cNvPr id="7" name="Rounded Rectangle 6"/>
          <p:cNvSpPr/>
          <p:nvPr/>
        </p:nvSpPr>
        <p:spPr>
          <a:xfrm>
            <a:off x="5074920" y="2468880"/>
            <a:ext cx="2048256" cy="114300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400" b="0">
                <a:solidFill>
                  <a:srgbClr val="1F242E"/>
                </a:solidFill>
                <a:latin typeface="Calibri"/>
              </a:rPr>
              <a:t>Feedback</a:t>
            </a:r>
          </a:p>
        </p:txBody>
      </p:sp>
      <p:sp>
        <p:nvSpPr>
          <p:cNvPr id="8" name="Rounded Rectangle 7"/>
          <p:cNvSpPr/>
          <p:nvPr/>
        </p:nvSpPr>
        <p:spPr>
          <a:xfrm>
            <a:off x="7283196" y="2468880"/>
            <a:ext cx="2048256" cy="1143000"/>
          </a:xfrm>
          <a:prstGeom prst="roundRect">
            <a:avLst/>
          </a:prstGeom>
          <a:solidFill>
            <a:srgbClr val="EEF2FA"/>
          </a:solidFill>
          <a:ln w="12700">
            <a:solidFill>
              <a:srgbClr val="D5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400" b="0">
                <a:solidFill>
                  <a:srgbClr val="1F242E"/>
                </a:solidFill>
                <a:latin typeface="Calibri"/>
              </a:rPr>
              <a:t>Individual
development plans</a:t>
            </a:r>
          </a:p>
        </p:txBody>
      </p:sp>
      <p:sp>
        <p:nvSpPr>
          <p:cNvPr id="9" name="Rounded Rectangle 8"/>
          <p:cNvSpPr/>
          <p:nvPr/>
        </p:nvSpPr>
        <p:spPr>
          <a:xfrm>
            <a:off x="9491472" y="2468880"/>
            <a:ext cx="2048256" cy="1143000"/>
          </a:xfrm>
          <a:prstGeom prst="roundRect">
            <a:avLst/>
          </a:prstGeom>
          <a:solidFill>
            <a:srgbClr val="2F4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400" b="1">
                <a:solidFill>
                  <a:srgbClr val="FFFFFF"/>
                </a:solidFill>
                <a:latin typeface="Calibri"/>
              </a:rPr>
              <a:t>Review at
30 to 60 days</a:t>
            </a:r>
          </a:p>
        </p:txBody>
      </p:sp>
      <p:sp>
        <p:nvSpPr>
          <p:cNvPr id="10" name="TextBox 9"/>
          <p:cNvSpPr txBox="1"/>
          <p:nvPr/>
        </p:nvSpPr>
        <p:spPr>
          <a:xfrm>
            <a:off x="658368" y="4114800"/>
            <a:ext cx="10881360" cy="1645920"/>
          </a:xfrm>
          <a:prstGeom prst="rect">
            <a:avLst/>
          </a:prstGeom>
          <a:noFill/>
        </p:spPr>
        <p:txBody>
          <a:bodyPr wrap="square">
            <a:spAutoFit/>
          </a:bodyPr>
          <a:lstStyle/>
          <a:p>
            <a:pPr>
              <a:lnSpc>
                <a:spcPct val="120000"/>
              </a:lnSpc>
              <a:spcAft>
                <a:spcPts val="1400"/>
              </a:spcAft>
            </a:pPr>
            <a:r>
              <a:rPr sz="1700">
                <a:solidFill>
                  <a:srgbClr val="3C78D8"/>
                </a:solidFill>
                <a:latin typeface="Calibri"/>
              </a:rPr>
              <a:t>•   </a:t>
            </a:r>
            <a:r>
              <a:rPr sz="1700">
                <a:solidFill>
                  <a:srgbClr val="1F242E"/>
                </a:solidFill>
                <a:latin typeface="Calibri"/>
              </a:rPr>
              <a:t>The assignments are where the development happens, not the session.</a:t>
            </a:r>
          </a:p>
          <a:p>
            <a:pPr>
              <a:lnSpc>
                <a:spcPct val="120000"/>
              </a:lnSpc>
              <a:spcAft>
                <a:spcPts val="1400"/>
              </a:spcAft>
            </a:pPr>
            <a:r>
              <a:rPr sz="1700">
                <a:solidFill>
                  <a:srgbClr val="3C78D8"/>
                </a:solidFill>
                <a:latin typeface="Calibri"/>
              </a:rPr>
              <a:t>•   </a:t>
            </a:r>
            <a:r>
              <a:rPr sz="1700">
                <a:solidFill>
                  <a:srgbClr val="1F242E"/>
                </a:solidFill>
                <a:latin typeface="Calibri"/>
              </a:rPr>
              <a:t>Each person's plan is agreed separately.</a:t>
            </a:r>
          </a:p>
          <a:p>
            <a:pPr>
              <a:lnSpc>
                <a:spcPct val="120000"/>
              </a:lnSpc>
              <a:spcAft>
                <a:spcPts val="1400"/>
              </a:spcAft>
            </a:pPr>
            <a:r>
              <a:rPr sz="1700">
                <a:solidFill>
                  <a:srgbClr val="3C78D8"/>
                </a:solidFill>
                <a:latin typeface="Calibri"/>
              </a:rPr>
              <a:t>•   </a:t>
            </a:r>
            <a:r>
              <a:rPr sz="1700">
                <a:solidFill>
                  <a:srgbClr val="1F242E"/>
                </a:solidFill>
                <a:latin typeface="Calibri"/>
              </a:rPr>
              <a:t>At 30 to 60 days: what can someone now do that they could not before, and what piece of work shows it?</a:t>
            </a:r>
          </a:p>
        </p:txBody>
      </p:sp>
      <p:pic>
        <p:nvPicPr>
          <p:cNvPr id="11" name="Picture 10" descr="logo_taleemabad.png"/>
          <p:cNvPicPr>
            <a:picLocks noChangeAspect="1"/>
          </p:cNvPicPr>
          <p:nvPr/>
        </p:nvPicPr>
        <p:blipFill>
          <a:blip r:embed="rId3"/>
          <a:stretch>
            <a:fillRect/>
          </a:stretch>
        </p:blipFill>
        <p:spPr>
          <a:xfrm>
            <a:off x="10927080" y="6144768"/>
            <a:ext cx="174565" cy="310896"/>
          </a:xfrm>
          <a:prstGeom prst="rect">
            <a:avLst/>
          </a:prstGeom>
        </p:spPr>
      </p:pic>
      <p:sp>
        <p:nvSpPr>
          <p:cNvPr id="12" name="TextBox 11"/>
          <p:cNvSpPr txBox="1"/>
          <p:nvPr/>
        </p:nvSpPr>
        <p:spPr>
          <a:xfrm>
            <a:off x="658368" y="6199632"/>
            <a:ext cx="548640" cy="274320"/>
          </a:xfrm>
          <a:prstGeom prst="rect">
            <a:avLst/>
          </a:prstGeom>
          <a:noFill/>
        </p:spPr>
        <p:txBody>
          <a:bodyPr wrap="square" anchor="t">
            <a:spAutoFit/>
          </a:bodyPr>
          <a:lstStyle/>
          <a:p>
            <a:pPr algn="l">
              <a:lnSpc>
                <a:spcPct val="115000"/>
              </a:lnSpc>
              <a:spcAft>
                <a:spcPts val="1000"/>
              </a:spcAft>
            </a:pPr>
            <a:r>
              <a:rPr sz="1100" b="0" i="0">
                <a:solidFill>
                  <a:srgbClr val="5A616E"/>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